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strument Sans Medium" panose="020B0604020202020204" charset="0"/>
      <p:regular r:id="rId17"/>
    </p:embeddedFont>
    <p:embeddedFont>
      <p:font typeface="Instrument Sans Semi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489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1723"/>
            <a:ext cx="129537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PRÉDICTION DE CONSOMMATION ÉLECTRIQUE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01228"/>
            <a:ext cx="574917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Régression Linéaire Simple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1083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Réalisé par 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264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Abdellahi Ahmed Mreizigue 12430003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686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Moctar Ely 12430015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108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Ahmed Salem Aref 12430106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288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Établissement LIU - Licence 2 Informatique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8469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Module : Data Mining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4649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Année : 2024-2025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5281" y="860108"/>
            <a:ext cx="8006239" cy="101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Contexte et Objectif : Pourquoi prédire la consommation électrique ?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6055281" y="2119670"/>
            <a:ext cx="8006239" cy="982266"/>
          </a:xfrm>
          <a:prstGeom prst="roundRect">
            <a:avLst>
              <a:gd name="adj" fmla="val 1117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421" y="2119670"/>
            <a:ext cx="91440" cy="9822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09241" y="2305050"/>
            <a:ext cx="2031921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Gestion du réseau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6309241" y="2656523"/>
            <a:ext cx="7566898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Anticiper les pics de demande et éviter les surcharges.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055281" y="3264456"/>
            <a:ext cx="8006239" cy="982266"/>
          </a:xfrm>
          <a:prstGeom prst="roundRect">
            <a:avLst>
              <a:gd name="adj" fmla="val 1117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421" y="3264456"/>
            <a:ext cx="91440" cy="9822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09241" y="3449836"/>
            <a:ext cx="2412087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Planification énergétique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309241" y="3801308"/>
            <a:ext cx="7566898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Optimiser la production et la distribution d'énergie.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055281" y="4409242"/>
            <a:ext cx="8006239" cy="982266"/>
          </a:xfrm>
          <a:prstGeom prst="roundRect">
            <a:avLst>
              <a:gd name="adj" fmla="val 1117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421" y="4409242"/>
            <a:ext cx="91440" cy="98226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09241" y="4594622"/>
            <a:ext cx="2031921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Économie d'énergie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309241" y="4946094"/>
            <a:ext cx="7566898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Identifier les opportunités de réduction des coûts.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055281" y="5554028"/>
            <a:ext cx="8006239" cy="982266"/>
          </a:xfrm>
          <a:prstGeom prst="roundRect">
            <a:avLst>
              <a:gd name="adj" fmla="val 1117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421" y="5554028"/>
            <a:ext cx="91440" cy="98226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309241" y="5739408"/>
            <a:ext cx="2348151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Impact environnemental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6309241" y="6090880"/>
            <a:ext cx="7566898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Promouvoir une consommation responsable et durable.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6055281" y="6719054"/>
            <a:ext cx="8006239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Observation clé : </a:t>
            </a:r>
            <a:r>
              <a:rPr lang="en-US" sz="155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Plus la température est basse, plus la consommation augmente</a:t>
            </a: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(Utilisation du chauffage en hiver).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58785" y="404813"/>
            <a:ext cx="4820841" cy="460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Variables et Jeu de Données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2658785" y="1232892"/>
            <a:ext cx="2208490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Les Variables Clés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658785" y="1656040"/>
            <a:ext cx="4476750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Variable X : Température extérieure (°C)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658785" y="1943100"/>
            <a:ext cx="4476750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Variable Y : Consommation électrique (kWh/jour)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658785" y="2311122"/>
            <a:ext cx="4476750" cy="706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Nos données reposent sur une relation inverse attendue : à mesure que la température baisse, la consommation électrique augmente.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785" y="3183612"/>
            <a:ext cx="4476750" cy="4476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02247" y="1232892"/>
            <a:ext cx="2689622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Extrait du Jeu de Données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502247" y="1674495"/>
            <a:ext cx="4476750" cy="3861078"/>
          </a:xfrm>
          <a:prstGeom prst="roundRect">
            <a:avLst>
              <a:gd name="adj" fmla="val 160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09867" y="1682115"/>
            <a:ext cx="4461510" cy="4273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657028" y="1777960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Température (°C)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891593" y="1777960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Consommation (kWh/jour)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509867" y="2109430"/>
            <a:ext cx="4461510" cy="4273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657028" y="2205276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891593" y="2205276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52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09867" y="2536746"/>
            <a:ext cx="4461510" cy="4273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657028" y="2632591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891593" y="2632591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48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509867" y="2964061"/>
            <a:ext cx="4461510" cy="4273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657028" y="3059906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891593" y="3059906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45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509867" y="3391376"/>
            <a:ext cx="4461510" cy="4273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657028" y="3487222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12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9891593" y="3487222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41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509867" y="3818692"/>
            <a:ext cx="4461510" cy="4273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7657028" y="3914537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15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891593" y="3914537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38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509867" y="4246007"/>
            <a:ext cx="4461510" cy="4273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7657028" y="4341852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17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9891593" y="4341852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35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509867" y="4673322"/>
            <a:ext cx="4461510" cy="4273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7657028" y="4769168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9891593" y="4769168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32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509867" y="5100638"/>
            <a:ext cx="4461510" cy="4273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7657028" y="5196483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22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9891593" y="5196483"/>
            <a:ext cx="1932622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30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7502247" y="5701189"/>
            <a:ext cx="4476750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 observations nous permettent d'explorer cette corrélation.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5011" y="379928"/>
            <a:ext cx="4948952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Visualisation : Nuage de Points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945011" y="1088112"/>
            <a:ext cx="8740259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 nuage de points illustre la relation observée entre la température et la consommation électrique.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011" y="1464588"/>
            <a:ext cx="8740259" cy="447996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30384" y="5944553"/>
            <a:ext cx="138113" cy="138112"/>
          </a:xfrm>
          <a:prstGeom prst="roundRect">
            <a:avLst>
              <a:gd name="adj" fmla="val 13241"/>
            </a:avLst>
          </a:prstGeom>
          <a:solidFill>
            <a:srgbClr val="21232B"/>
          </a:solidFill>
          <a:ln/>
        </p:spPr>
      </p:sp>
      <p:sp>
        <p:nvSpPr>
          <p:cNvPr id="6" name="Text 3"/>
          <p:cNvSpPr/>
          <p:nvPr/>
        </p:nvSpPr>
        <p:spPr>
          <a:xfrm>
            <a:off x="6129457" y="5944553"/>
            <a:ext cx="1109424" cy="138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Température (°C)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391281" y="5944553"/>
            <a:ext cx="138113" cy="138112"/>
          </a:xfrm>
          <a:prstGeom prst="roundRect">
            <a:avLst>
              <a:gd name="adj" fmla="val 13241"/>
            </a:avLst>
          </a:prstGeom>
          <a:solidFill>
            <a:srgbClr val="52566B"/>
          </a:solidFill>
          <a:ln/>
        </p:spPr>
      </p:sp>
      <p:sp>
        <p:nvSpPr>
          <p:cNvPr id="8" name="Text 5"/>
          <p:cNvSpPr/>
          <p:nvPr/>
        </p:nvSpPr>
        <p:spPr>
          <a:xfrm>
            <a:off x="7590353" y="5944553"/>
            <a:ext cx="1738312" cy="138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Consommation (kWh/jour)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5011" y="6587847"/>
            <a:ext cx="69056" cy="690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52180" y="6514505"/>
            <a:ext cx="1912382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Tendance Décroissante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152180" y="6813232"/>
            <a:ext cx="2591157" cy="442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Les points s'alignent clairement le long d'une pente négative.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978" y="6587847"/>
            <a:ext cx="69056" cy="690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3146" y="6514505"/>
            <a:ext cx="1727240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Relation Linéaire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23146" y="6813232"/>
            <a:ext cx="2591157" cy="442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distribution suggère une forte corrélation linéaire.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6944" y="6587847"/>
            <a:ext cx="69056" cy="690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94113" y="6514505"/>
            <a:ext cx="1727240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Corrélation Négative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9094113" y="6813232"/>
            <a:ext cx="2591157" cy="663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Confirme que l'augmentation de la température est associée à une baisse de la consommation.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2945011" y="7631906"/>
            <a:ext cx="8740259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Une droite de régression pourrait efficacement modéliser cette relation.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7183" y="443746"/>
            <a:ext cx="7080528" cy="502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Méthode : Régression Linéaire Simple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2227183" y="1268135"/>
            <a:ext cx="10175915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régression linéaire simple est un outil statistique puissant pour modéliser la relation entre deux variables.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227183" y="1887379"/>
            <a:ext cx="5948482" cy="1907143"/>
          </a:xfrm>
          <a:prstGeom prst="roundRect">
            <a:avLst>
              <a:gd name="adj" fmla="val 3543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657" y="2055852"/>
            <a:ext cx="482560" cy="4825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8292" y="2188488"/>
            <a:ext cx="217170" cy="2171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395657" y="2699266"/>
            <a:ext cx="201096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Principe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2395657" y="3111460"/>
            <a:ext cx="5611535" cy="514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Identifier la droite qui minimise la somme des carrés des distances entre les points de données et la droite elle-même.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2227183" y="3955375"/>
            <a:ext cx="5948482" cy="2992398"/>
          </a:xfrm>
          <a:prstGeom prst="roundRect">
            <a:avLst>
              <a:gd name="adj" fmla="val 225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5657" y="4123849"/>
            <a:ext cx="482560" cy="48256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28292" y="4256484"/>
            <a:ext cx="217170" cy="2171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395657" y="4767263"/>
            <a:ext cx="201096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Équation Générale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2395657" y="5179457"/>
            <a:ext cx="5611535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4F4F5"/>
                </a:highlight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 = aX + b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2395657" y="5581531"/>
            <a:ext cx="5611535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 : Consommation électrique </a:t>
            </a:r>
            <a:r>
              <a:rPr lang="en-US" sz="125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(prédite)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2395657" y="5895023"/>
            <a:ext cx="5611535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 : Température extérieure </a:t>
            </a:r>
            <a:r>
              <a:rPr lang="en-US" sz="125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(variable prédictive)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2395657" y="6208514"/>
            <a:ext cx="5611535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: Pente de la droite </a:t>
            </a:r>
            <a:r>
              <a:rPr lang="en-US" sz="125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(coefficient de régression)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2395657" y="6522006"/>
            <a:ext cx="5611535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 : Ordonnée à l'origine </a:t>
            </a:r>
            <a:r>
              <a:rPr lang="en-US" sz="125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(valeur de Y quand X=0)</a:t>
            </a:r>
            <a:endParaRPr lang="en-US" sz="12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5715" y="1887379"/>
            <a:ext cx="3834884" cy="38348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75715" y="5903238"/>
            <a:ext cx="2010966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Outils et Méthode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8575715" y="6315432"/>
            <a:ext cx="3834884" cy="25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Logiciel : </a:t>
            </a:r>
            <a:r>
              <a:rPr lang="en-US" sz="125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Python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8575715" y="6628924"/>
            <a:ext cx="3834884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Bibliothèque : </a:t>
            </a:r>
            <a:r>
              <a:rPr lang="en-US" sz="125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scikit-learn</a:t>
            </a: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(module </a:t>
            </a: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LinearRegression()</a:t>
            </a: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8575715" y="7214949"/>
            <a:ext cx="3834884" cy="514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Méthode de calcul : Moindres Carrés Ordinaires (MCO)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756" y="1010722"/>
            <a:ext cx="8096488" cy="935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Résultats du Modèle : Équation de Régression Obtenue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3756" y="2170271"/>
            <a:ext cx="5162788" cy="645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Y = -1.261X + 56.996</a:t>
            </a:r>
            <a:endParaRPr lang="en-US" sz="4050" dirty="0"/>
          </a:p>
        </p:txBody>
      </p:sp>
      <p:sp>
        <p:nvSpPr>
          <p:cNvPr id="5" name="Shape 2"/>
          <p:cNvSpPr/>
          <p:nvPr/>
        </p:nvSpPr>
        <p:spPr>
          <a:xfrm>
            <a:off x="523756" y="3264456"/>
            <a:ext cx="3973473" cy="1909882"/>
          </a:xfrm>
          <a:prstGeom prst="roundRect">
            <a:avLst>
              <a:gd name="adj" fmla="val 3830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56" y="3249216"/>
            <a:ext cx="3973473" cy="6096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3040023"/>
            <a:ext cx="448866" cy="448866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20660" y="3174563"/>
            <a:ext cx="179546" cy="17954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88538" y="3638550"/>
            <a:ext cx="1870591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Coefficient 'a' = -1.261</a:t>
            </a:r>
            <a:endParaRPr lang="en-US" sz="1450" dirty="0"/>
          </a:p>
        </p:txBody>
      </p:sp>
      <p:sp>
        <p:nvSpPr>
          <p:cNvPr id="10" name="Text 4"/>
          <p:cNvSpPr/>
          <p:nvPr/>
        </p:nvSpPr>
        <p:spPr>
          <a:xfrm>
            <a:off x="688538" y="3962043"/>
            <a:ext cx="3643908" cy="47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Pour chaque degré Celsius supplémentaire, la consommation diminue d'environ </a:t>
            </a:r>
            <a:r>
              <a:rPr lang="en-US" sz="115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1.26 kWh/jour</a:t>
            </a: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150" dirty="0"/>
          </a:p>
        </p:txBody>
      </p:sp>
      <p:sp>
        <p:nvSpPr>
          <p:cNvPr id="11" name="Text 5"/>
          <p:cNvSpPr/>
          <p:nvPr/>
        </p:nvSpPr>
        <p:spPr>
          <a:xfrm>
            <a:off x="688538" y="4530685"/>
            <a:ext cx="3643908" cy="47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Ceci confirme la relation inverse observée : plus il fait chaud, moins on consomme.</a:t>
            </a:r>
            <a:endParaRPr lang="en-US" sz="1150" dirty="0"/>
          </a:p>
        </p:txBody>
      </p:sp>
      <p:sp>
        <p:nvSpPr>
          <p:cNvPr id="12" name="Shape 6"/>
          <p:cNvSpPr/>
          <p:nvPr/>
        </p:nvSpPr>
        <p:spPr>
          <a:xfrm>
            <a:off x="4646771" y="3264456"/>
            <a:ext cx="3973473" cy="1909882"/>
          </a:xfrm>
          <a:prstGeom prst="roundRect">
            <a:avLst>
              <a:gd name="adj" fmla="val 3830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771" y="3249216"/>
            <a:ext cx="3973473" cy="6096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015" y="3040023"/>
            <a:ext cx="448866" cy="448866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3675" y="3174563"/>
            <a:ext cx="179546" cy="179546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811554" y="3638550"/>
            <a:ext cx="1943576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Constante 'b' = 56.996</a:t>
            </a:r>
            <a:endParaRPr lang="en-US" sz="1450" dirty="0"/>
          </a:p>
        </p:txBody>
      </p:sp>
      <p:sp>
        <p:nvSpPr>
          <p:cNvPr id="17" name="Text 8"/>
          <p:cNvSpPr/>
          <p:nvPr/>
        </p:nvSpPr>
        <p:spPr>
          <a:xfrm>
            <a:off x="4811554" y="3962043"/>
            <a:ext cx="3643908" cy="47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À 0°C, la consommation électrique théorique serait de </a:t>
            </a:r>
            <a:r>
              <a:rPr lang="en-US" sz="115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57 kWh/jour</a:t>
            </a: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(principalement pour le chauffage).</a:t>
            </a:r>
            <a:endParaRPr lang="en-US" sz="1150" dirty="0"/>
          </a:p>
        </p:txBody>
      </p:sp>
      <p:sp>
        <p:nvSpPr>
          <p:cNvPr id="18" name="Shape 9"/>
          <p:cNvSpPr/>
          <p:nvPr/>
        </p:nvSpPr>
        <p:spPr>
          <a:xfrm>
            <a:off x="523756" y="5548313"/>
            <a:ext cx="8096488" cy="1670447"/>
          </a:xfrm>
          <a:prstGeom prst="roundRect">
            <a:avLst>
              <a:gd name="adj" fmla="val 4379"/>
            </a:avLst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756" y="5533072"/>
            <a:ext cx="8096488" cy="60960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7567" y="5323880"/>
            <a:ext cx="448866" cy="448866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82227" y="5458420"/>
            <a:ext cx="179546" cy="179546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688538" y="5922407"/>
            <a:ext cx="2559606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Qualité du modèle : R² = 0.991</a:t>
            </a:r>
            <a:endParaRPr lang="en-US" sz="1450" dirty="0"/>
          </a:p>
        </p:txBody>
      </p:sp>
      <p:sp>
        <p:nvSpPr>
          <p:cNvPr id="23" name="Text 11"/>
          <p:cNvSpPr/>
          <p:nvPr/>
        </p:nvSpPr>
        <p:spPr>
          <a:xfrm>
            <a:off x="688538" y="6245900"/>
            <a:ext cx="7766923" cy="47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 coefficient de détermination (R²) de </a:t>
            </a:r>
            <a:r>
              <a:rPr lang="en-US" sz="115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99.1%</a:t>
            </a: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indique que 99.1% de la variation de la consommation est expliquée par la température.</a:t>
            </a:r>
            <a:endParaRPr lang="en-US" sz="1150" dirty="0"/>
          </a:p>
        </p:txBody>
      </p:sp>
      <p:sp>
        <p:nvSpPr>
          <p:cNvPr id="24" name="Text 12"/>
          <p:cNvSpPr/>
          <p:nvPr/>
        </p:nvSpPr>
        <p:spPr>
          <a:xfrm>
            <a:off x="688538" y="6814542"/>
            <a:ext cx="7766923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C'est un </a:t>
            </a:r>
            <a:r>
              <a:rPr lang="en-US" sz="11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excellent</a:t>
            </a: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indicateur de la fiabilité de notre modèle.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1258" y="942618"/>
            <a:ext cx="7585353" cy="682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Visualisation de la Régression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251258" y="1953339"/>
            <a:ext cx="7614285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droite de régression superposée à notre nuage de points démontre visuellement l'efficacité du modèle.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3173" y="2904946"/>
            <a:ext cx="327779" cy="3277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61346" y="2898219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Alignement Parfait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6961346" y="3370659"/>
            <a:ext cx="6904196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ligne rouge (droite de régression) épouse très précisément la tendance des points bleus (données réelles).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3173" y="4513481"/>
            <a:ext cx="327779" cy="32777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61346" y="4506754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Écarts Minimes</a:t>
            </a:r>
            <a:endParaRPr lang="en-US" sz="2150" dirty="0"/>
          </a:p>
        </p:txBody>
      </p:sp>
      <p:sp>
        <p:nvSpPr>
          <p:cNvPr id="10" name="Text 5"/>
          <p:cNvSpPr/>
          <p:nvPr/>
        </p:nvSpPr>
        <p:spPr>
          <a:xfrm>
            <a:off x="6961346" y="4979194"/>
            <a:ext cx="6904196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Les résidus, c'est-à-dire les écarts entre les points observés et la droite, sont faibles et semblent aléatoires.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3173" y="6122015"/>
            <a:ext cx="327779" cy="32777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61346" y="6115288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Modèle Approprié</a:t>
            </a:r>
            <a:endParaRPr lang="en-US" sz="2150" dirty="0"/>
          </a:p>
        </p:txBody>
      </p:sp>
      <p:sp>
        <p:nvSpPr>
          <p:cNvPr id="13" name="Text 7"/>
          <p:cNvSpPr/>
          <p:nvPr/>
        </p:nvSpPr>
        <p:spPr>
          <a:xfrm>
            <a:off x="6961346" y="6587728"/>
            <a:ext cx="6904196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L'absence de tendance dans les erreurs confirme que le modèle linéaire est une représentation juste de la réalité.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0" y="349806"/>
            <a:ext cx="5313640" cy="397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Application : Exemple de Prédiction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291840" y="1001673"/>
            <a:ext cx="804672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Utilisons notre modèle pour prédire la consommation électrique à une température donnée.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91840" y="1475542"/>
            <a:ext cx="1908215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Prédiction pour 30°C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82578" y="1857137"/>
            <a:ext cx="3677483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Quelle sera la consommation pour une température estivale de 30°C 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1857137"/>
            <a:ext cx="15240" cy="407194"/>
          </a:xfrm>
          <a:prstGeom prst="rect">
            <a:avLst/>
          </a:prstGeom>
          <a:solidFill>
            <a:srgbClr val="505468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407444"/>
            <a:ext cx="1590199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Calcul 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91840" y="2733437"/>
            <a:ext cx="3868222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 = -1.261 \times 30 + 56.996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3056453"/>
            <a:ext cx="3868222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 = -37.83 + 56.996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3379470"/>
            <a:ext cx="3868222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 = 19.17 \text{ kWh/jour}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3715226"/>
            <a:ext cx="1590199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Interprétation 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4041219"/>
            <a:ext cx="386822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À 30°C, la consommation est faible : environ </a:t>
            </a:r>
            <a:r>
              <a:rPr lang="en-US" sz="1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19 kWh/jour</a:t>
            </a: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4289227"/>
            <a:ext cx="3868222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Cela est cohérent avec l'absence de chauffage nécessaire et une éventuelle légère consommation pour la climatisation.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958" y="1491496"/>
            <a:ext cx="3868222" cy="386822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77958" y="5502831"/>
            <a:ext cx="1908215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Autres Prédictions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477958" y="5884426"/>
            <a:ext cx="3868222" cy="1333262"/>
          </a:xfrm>
          <a:prstGeom prst="roundRect">
            <a:avLst>
              <a:gd name="adj" fmla="val 400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85578" y="5892046"/>
            <a:ext cx="3852982" cy="5750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7612856" y="5975985"/>
            <a:ext cx="166830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Température (°C)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543098" y="5975985"/>
            <a:ext cx="1668304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Consommation Prédite (kWh/jour)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485578" y="6467118"/>
            <a:ext cx="3852982" cy="3714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7612856" y="6551057"/>
            <a:ext cx="166830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10°C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543098" y="6551057"/>
            <a:ext cx="166830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44.4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485578" y="6838593"/>
            <a:ext cx="3852982" cy="3714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612856" y="6922532"/>
            <a:ext cx="166830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15°C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543098" y="6922532"/>
            <a:ext cx="166830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38.1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477958" y="7360801"/>
            <a:ext cx="3868222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Ces prédictions démontrent la capacité du modèle à estimer la consommation pour différentes conditions météorologiques.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1983"/>
            <a:ext cx="10948392" cy="706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Notre Application Interactive Développée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1647" y="1781175"/>
            <a:ext cx="13047107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Nous avons créé une application Python conviviale pour illustrer ces concepts de Data Mining.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47" y="2397562"/>
            <a:ext cx="3049786" cy="30497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1647" y="5673447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Gestion des Données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1647" y="6162437"/>
            <a:ext cx="3049786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Ajouter, supprimer des observations ou réinitialiser le jeu de données pour des analyses dynamiques.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087" y="2397562"/>
            <a:ext cx="3049786" cy="30497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4087" y="5673447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Calcul Automatique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124087" y="6162437"/>
            <a:ext cx="3049786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Régression en temps réel, affichage de l'équation et du R² calculé instantanément.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527" y="2397562"/>
            <a:ext cx="3049786" cy="304978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6527" y="5673447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Prédiction Facile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456527" y="6162437"/>
            <a:ext cx="3049786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Saisissez une température pour obtenir une prédiction de consommation instantanée.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968" y="2397562"/>
            <a:ext cx="3049786" cy="304978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8968" y="5673447"/>
            <a:ext cx="282737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Visualisations Riches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788968" y="6162437"/>
            <a:ext cx="3049786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Nuage de points, droite de régression et statistiques détaillées, le tout intégré graphiquement avec Tkinter.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4" y="1057870"/>
            <a:ext cx="4527113" cy="557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 et Limites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24364" y="1882854"/>
            <a:ext cx="3858458" cy="2657951"/>
          </a:xfrm>
          <a:prstGeom prst="roundRect">
            <a:avLst>
              <a:gd name="adj" fmla="val 1611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0339" y="2068830"/>
            <a:ext cx="2230279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Points Clés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10339" y="2454593"/>
            <a:ext cx="3486507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Modèle </a:t>
            </a: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performant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(R² = 99.1%).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0339" y="2802493"/>
            <a:ext cx="3486507" cy="57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Relation </a:t>
            </a: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confirmée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: Température ↑ = Consommation ↓.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0339" y="3435906"/>
            <a:ext cx="3486507" cy="57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Application </a:t>
            </a: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pratique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pour la planification énergétique.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0339" y="4069318"/>
            <a:ext cx="3486507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Outil </a:t>
            </a: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interactif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développé en Python.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1178" y="1882854"/>
            <a:ext cx="3858458" cy="2657951"/>
          </a:xfrm>
          <a:prstGeom prst="roundRect">
            <a:avLst>
              <a:gd name="adj" fmla="val 16111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7153" y="2068830"/>
            <a:ext cx="2230279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Limites Actuelles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47153" y="2454593"/>
            <a:ext cx="3486507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Validité restreinte (5°C à 22°C).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47153" y="2802493"/>
            <a:ext cx="3486507" cy="57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 seul facteur (température) pris en compte.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47153" y="3435906"/>
            <a:ext cx="3486507" cy="57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Ignore l'isolation, le nombre d'occupants, le type de chauffage.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4364" y="4719161"/>
            <a:ext cx="7895273" cy="1739027"/>
          </a:xfrm>
          <a:prstGeom prst="roundRect">
            <a:avLst>
              <a:gd name="adj" fmla="val 2462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0339" y="4905137"/>
            <a:ext cx="2510790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Améliorations Possibles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810339" y="5290899"/>
            <a:ext cx="7523321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Régression </a:t>
            </a: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multiple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(plusieurs variables).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0339" y="5638800"/>
            <a:ext cx="7523321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Collecte de </a:t>
            </a: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davantage de données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0339" y="5986701"/>
            <a:ext cx="7523321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Modèles </a:t>
            </a: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plus complexes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(non-linéaires).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4364" y="6725722"/>
            <a:ext cx="4555688" cy="44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Merci pour votre attention 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918</Words>
  <Application>Microsoft Office PowerPoint</Application>
  <PresentationFormat>Custom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Instrument Sans Semi Bold</vt:lpstr>
      <vt:lpstr>Arial</vt:lpstr>
      <vt:lpstr>Instrument Sans Medium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Moctar Ely</cp:lastModifiedBy>
  <cp:revision>1</cp:revision>
  <dcterms:created xsi:type="dcterms:W3CDTF">2026-01-09T22:09:38Z</dcterms:created>
  <dcterms:modified xsi:type="dcterms:W3CDTF">2026-01-09T22:10:19Z</dcterms:modified>
</cp:coreProperties>
</file>